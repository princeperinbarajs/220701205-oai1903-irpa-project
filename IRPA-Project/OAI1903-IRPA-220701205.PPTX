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0" r:id="rId2"/>
    <p:sldId id="366" r:id="rId3"/>
    <p:sldId id="380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3" r:id="rId14"/>
    <p:sldId id="394" r:id="rId15"/>
    <p:sldId id="395" r:id="rId16"/>
    <p:sldId id="397" r:id="rId17"/>
    <p:sldId id="399" r:id="rId18"/>
    <p:sldId id="28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24"/>
    <a:srgbClr val="008000"/>
    <a:srgbClr val="385D8A"/>
    <a:srgbClr val="34495E"/>
    <a:srgbClr val="FDFDFD"/>
    <a:srgbClr val="EAEAEA"/>
    <a:srgbClr val="F8F8F8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8" autoAdjust="0"/>
    <p:restoredTop sz="94364" autoAdjust="0"/>
  </p:normalViewPr>
  <p:slideViewPr>
    <p:cSldViewPr>
      <p:cViewPr varScale="1">
        <p:scale>
          <a:sx n="54" d="100"/>
          <a:sy n="54" d="100"/>
        </p:scale>
        <p:origin x="52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748" y="6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F5FD1-1E71-41C1-A531-EDAAD398F8D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8C08-2D65-44A0-8D9B-1CEE7EB8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2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5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3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27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4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1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4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56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9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0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02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4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5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Department of Computer</a:t>
            </a:r>
            <a:r>
              <a:rPr lang="en-US" sz="16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Science and Engineering</a:t>
            </a:r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11"/>
          <p:cNvSpPr/>
          <p:nvPr userDrawn="1"/>
        </p:nvSpPr>
        <p:spPr>
          <a:xfrm>
            <a:off x="4572000" y="647749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Rajalakshmi Engineering College 		</a:t>
            </a:r>
            <a:fld id="{6E8469F3-9EE8-43CF-BEDC-475B89412D1D}" type="slidenum">
              <a:rPr lang="da-DK" sz="16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6.xml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8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9.xml" /><Relationship Id="rId4" Type="http://schemas.openxmlformats.org/officeDocument/2006/relationships/image" Target="../media/image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0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1.xml" /><Relationship Id="rId4" Type="http://schemas.openxmlformats.org/officeDocument/2006/relationships/image" Target="../media/image5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3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" t="63278" r="776" b="-30898"/>
          <a:stretch/>
        </p:blipFill>
        <p:spPr>
          <a:xfrm>
            <a:off x="-72010" y="-2532"/>
            <a:ext cx="9216010" cy="3231811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-14748" y="1054232"/>
            <a:ext cx="9158748" cy="5148980"/>
            <a:chOff x="-14748" y="986564"/>
            <a:chExt cx="9158748" cy="5148980"/>
          </a:xfrm>
        </p:grpSpPr>
        <p:sp>
          <p:nvSpPr>
            <p:cNvPr id="22" name="TextBox 21"/>
            <p:cNvSpPr txBox="1"/>
            <p:nvPr/>
          </p:nvSpPr>
          <p:spPr>
            <a:xfrm>
              <a:off x="177781" y="4812105"/>
              <a:ext cx="432220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220701205</a:t>
              </a:r>
            </a:p>
            <a:p>
              <a:r>
                <a:rPr lang="en-US" sz="2000" b="1" dirty="0"/>
                <a:t>Prince </a:t>
              </a:r>
              <a:r>
                <a:rPr lang="en-US" sz="2000" b="1" dirty="0" err="1"/>
                <a:t>Perinbaraj</a:t>
              </a:r>
              <a:r>
                <a:rPr lang="en-US" sz="2000" b="1" dirty="0"/>
                <a:t> S</a:t>
              </a:r>
            </a:p>
            <a:p>
              <a:r>
                <a:rPr lang="en-US" sz="2000" b="1" dirty="0" err="1"/>
                <a:t>Dr.N.Duraimurugan</a:t>
              </a:r>
              <a:r>
                <a:rPr lang="en-US" sz="2000" b="1" dirty="0"/>
                <a:t>, M.E., </a:t>
              </a:r>
              <a:r>
                <a:rPr lang="en-US" sz="2000" b="1" dirty="0" err="1"/>
                <a:t>Ph.D</a:t>
              </a:r>
              <a:r>
                <a:rPr lang="en-US" sz="2000" b="1" dirty="0"/>
                <a:t>,</a:t>
              </a:r>
            </a:p>
            <a:p>
              <a:r>
                <a:rPr lang="en-US" sz="2000" b="1" dirty="0"/>
                <a:t>Computer Science and Engineering</a:t>
              </a: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-14748" y="986564"/>
              <a:ext cx="9158748" cy="3628907"/>
              <a:chOff x="-14748" y="986564"/>
              <a:chExt cx="9158748" cy="3628907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5003203" y="1761199"/>
                <a:ext cx="4140797" cy="2622445"/>
              </a:xfrm>
              <a:custGeom>
                <a:avLst/>
                <a:gdLst>
                  <a:gd name="connsiteX0" fmla="*/ 1 w 4140797"/>
                  <a:gd name="connsiteY0" fmla="*/ 0 h 2622445"/>
                  <a:gd name="connsiteX1" fmla="*/ 4140797 w 4140797"/>
                  <a:gd name="connsiteY1" fmla="*/ 0 h 2622445"/>
                  <a:gd name="connsiteX2" fmla="*/ 4140797 w 4140797"/>
                  <a:gd name="connsiteY2" fmla="*/ 2622445 h 2622445"/>
                  <a:gd name="connsiteX3" fmla="*/ 0 w 4140797"/>
                  <a:gd name="connsiteY3" fmla="*/ 2622445 h 2622445"/>
                  <a:gd name="connsiteX4" fmla="*/ 1311223 w 4140797"/>
                  <a:gd name="connsiteY4" fmla="*/ 1311222 h 2622445"/>
                  <a:gd name="connsiteX5" fmla="*/ 1 w 4140797"/>
                  <a:gd name="connsiteY5" fmla="*/ 0 h 262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40797" h="2622445">
                    <a:moveTo>
                      <a:pt x="1" y="0"/>
                    </a:moveTo>
                    <a:lnTo>
                      <a:pt x="4140797" y="0"/>
                    </a:lnTo>
                    <a:lnTo>
                      <a:pt x="4140797" y="2622445"/>
                    </a:lnTo>
                    <a:lnTo>
                      <a:pt x="0" y="2622445"/>
                    </a:lnTo>
                    <a:lnTo>
                      <a:pt x="1311223" y="13112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A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Pentagon 45"/>
              <p:cNvSpPr/>
              <p:nvPr/>
            </p:nvSpPr>
            <p:spPr>
              <a:xfrm>
                <a:off x="0" y="1529371"/>
                <a:ext cx="5743977" cy="3086100"/>
              </a:xfrm>
              <a:prstGeom prst="homePlate">
                <a:avLst/>
              </a:prstGeom>
              <a:solidFill>
                <a:srgbClr val="59595B"/>
              </a:solidFill>
              <a:ln>
                <a:solidFill>
                  <a:srgbClr val="59595B"/>
                </a:solidFill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-14748" y="986564"/>
                <a:ext cx="4014973" cy="1075928"/>
                <a:chOff x="-19391" y="1011603"/>
                <a:chExt cx="5278947" cy="1075928"/>
              </a:xfrm>
            </p:grpSpPr>
            <p:sp>
              <p:nvSpPr>
                <p:cNvPr id="51" name="Pentagon 50"/>
                <p:cNvSpPr/>
                <p:nvPr/>
              </p:nvSpPr>
              <p:spPr>
                <a:xfrm>
                  <a:off x="-19391" y="1011603"/>
                  <a:ext cx="5278947" cy="1075928"/>
                </a:xfrm>
                <a:prstGeom prst="homePlate">
                  <a:avLst/>
                </a:prstGeom>
                <a:solidFill>
                  <a:srgbClr val="00AAAD"/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041" y="1195624"/>
                  <a:ext cx="4181886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Introduction to </a:t>
                  </a:r>
                </a:p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Robotic Process Automation </a:t>
                  </a:r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177782" y="2100903"/>
                <a:ext cx="424479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CRYPTOCURRENCY PRICE MONITORING BOT</a:t>
                </a:r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4652237" y="1529372"/>
                <a:ext cx="1672363" cy="3086099"/>
              </a:xfrm>
              <a:custGeom>
                <a:avLst/>
                <a:gdLst>
                  <a:gd name="connsiteX0" fmla="*/ 0 w 1672363"/>
                  <a:gd name="connsiteY0" fmla="*/ 0 h 3086099"/>
                  <a:gd name="connsiteX1" fmla="*/ 129314 w 1672363"/>
                  <a:gd name="connsiteY1" fmla="*/ 0 h 3086099"/>
                  <a:gd name="connsiteX2" fmla="*/ 1672363 w 1672363"/>
                  <a:gd name="connsiteY2" fmla="*/ 1543050 h 3086099"/>
                  <a:gd name="connsiteX3" fmla="*/ 129314 w 1672363"/>
                  <a:gd name="connsiteY3" fmla="*/ 3086099 h 3086099"/>
                  <a:gd name="connsiteX4" fmla="*/ 0 w 1672363"/>
                  <a:gd name="connsiteY4" fmla="*/ 3086099 h 3086099"/>
                  <a:gd name="connsiteX5" fmla="*/ 1543049 w 1672363"/>
                  <a:gd name="connsiteY5" fmla="*/ 1543050 h 3086099"/>
                  <a:gd name="connsiteX6" fmla="*/ 0 w 1672363"/>
                  <a:gd name="connsiteY6" fmla="*/ 0 h 3086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363" h="3086099">
                    <a:moveTo>
                      <a:pt x="0" y="0"/>
                    </a:moveTo>
                    <a:lnTo>
                      <a:pt x="129314" y="0"/>
                    </a:lnTo>
                    <a:lnTo>
                      <a:pt x="1672363" y="1543050"/>
                    </a:lnTo>
                    <a:lnTo>
                      <a:pt x="129314" y="3086099"/>
                    </a:lnTo>
                    <a:lnTo>
                      <a:pt x="0" y="3086099"/>
                    </a:lnTo>
                    <a:lnTo>
                      <a:pt x="1543049" y="1543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6A9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4441459"/>
            <a:ext cx="1813542" cy="15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Abstract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"A cryptocurrency price monitoring bot is designed using UiPath to automate the real-time tracking of cryptocurrency prices, providing instant alerts and insights for traders and investors. This system demonstrates the use of RPA in the financial domain, ensuring efficiency and accuracy.“</a:t>
            </a:r>
          </a:p>
          <a:p>
            <a:r>
              <a:rPr lang="en-US" dirty="0"/>
              <a:t>"This project presents a cryptocurrency price monitoring bot built with UiPath to automate real-time price tracking. By integrating with APIs and sending instant alerts based on user-defined conditions, the bot enhances efficiency, reduces manual effort, and supports informed decision-making in cryptocurrency trading."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40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Market Volatility:</a:t>
            </a:r>
            <a:r>
              <a:rPr lang="en-US" dirty="0"/>
              <a:t> Cryptocurrencies are highly volatile, requiring real-time tracking to seize opportunities.</a:t>
            </a:r>
          </a:p>
          <a:p>
            <a:r>
              <a:rPr lang="en-US" b="1" dirty="0"/>
              <a:t>Manual Effort:</a:t>
            </a:r>
            <a:r>
              <a:rPr lang="en-US" dirty="0"/>
              <a:t> Traditional methods of monitoring prices are time-consuming and error-prone.</a:t>
            </a:r>
          </a:p>
          <a:p>
            <a:r>
              <a:rPr lang="en-US" b="1" dirty="0"/>
              <a:t>Decision-Making:</a:t>
            </a:r>
            <a:r>
              <a:rPr lang="en-US" dirty="0"/>
              <a:t> Instant updates are crucial for informed trading and investment decisions.</a:t>
            </a:r>
          </a:p>
          <a:p>
            <a:r>
              <a:rPr lang="en-US" b="1" dirty="0"/>
              <a:t>24/7 Market:</a:t>
            </a:r>
            <a:r>
              <a:rPr lang="en-US" dirty="0"/>
              <a:t> Cryptocurrency markets never close, making manual monitoring impractical.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848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benefits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Automation of repetitive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Accurate and instant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24/7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productivity for traders.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Decision Support.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30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"Cryptocurrency Price Prediction Using Machine Learning"</a:t>
            </a:r>
          </a:p>
          <a:p>
            <a:r>
              <a:rPr lang="en-US" dirty="0"/>
              <a:t>Advantages</a:t>
            </a:r>
          </a:p>
          <a:p>
            <a:r>
              <a:rPr lang="en-US" dirty="0"/>
              <a:t>Uses machine learning to predict price trends, improving market predictions.</a:t>
            </a:r>
          </a:p>
          <a:p>
            <a:r>
              <a:rPr lang="en-US" dirty="0"/>
              <a:t>Provides valuable insights into the potential for AI integration in cryptocurrency monitoring.</a:t>
            </a:r>
          </a:p>
          <a:p>
            <a:r>
              <a:rPr lang="en-US" dirty="0"/>
              <a:t>Disadvantages</a:t>
            </a:r>
          </a:p>
          <a:p>
            <a:r>
              <a:rPr lang="en-US" dirty="0"/>
              <a:t>Relies heavily on historical data, which may not account for sudden market shifts.</a:t>
            </a:r>
          </a:p>
          <a:p>
            <a:r>
              <a:rPr lang="en-US" dirty="0"/>
              <a:t>Computationally intensive, requiring significant resources.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43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Objective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cryptocurrency price monitoring bot using UiPath that automates real-time price tracking, generates alerts based on user-defined conditions, and supports traders and investors with accurate, timely insights for informed decision-making in the volatile cryptocurrency market.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57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  <a:endParaRPr lang="en-IN" dirty="0"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D3F4B-EA31-4A12-BAF3-166745F35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08" y="990600"/>
            <a:ext cx="6488783" cy="53340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223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Requirements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hardware and software needed: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Hardware:</a:t>
            </a:r>
            <a:r>
              <a:rPr lang="en-US" dirty="0"/>
              <a:t> Standard PC/Laptop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Software:</a:t>
            </a:r>
            <a:r>
              <a:rPr lang="en-US" dirty="0"/>
              <a:t> UiPath Studio, Cryptocurrency API access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2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Description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 modules with diagrams: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Module 1: Data Fetching</a:t>
            </a:r>
            <a:br>
              <a:rPr lang="en-US" dirty="0"/>
            </a:br>
            <a:r>
              <a:rPr lang="en-US" dirty="0"/>
              <a:t>Description: Fetch cryptocurrency prices via APIs</a:t>
            </a:r>
            <a:br>
              <a:rPr lang="en-US" dirty="0"/>
            </a:br>
            <a:r>
              <a:rPr lang="en-US" dirty="0"/>
              <a:t>Diagram: Activity or Data Flow Diagram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Module 2: Notification Service</a:t>
            </a:r>
            <a:br>
              <a:rPr lang="en-US" dirty="0"/>
            </a:br>
            <a:r>
              <a:rPr lang="en-US" dirty="0"/>
              <a:t>Description: Send alerts based on predefined conditions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50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Design</a:t>
            </a:r>
            <a:endParaRPr lang="en-IN" dirty="0"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CBA9B-8DA4-41E8-BE49-1E0806E9C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1714500"/>
            <a:ext cx="7258050" cy="38862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916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Design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Main Process</a:t>
            </a:r>
          </a:p>
          <a:p>
            <a:r>
              <a:rPr lang="en-US" b="1" dirty="0"/>
              <a:t>Initialize Bot</a:t>
            </a:r>
            <a:r>
              <a:rPr lang="en-US" dirty="0"/>
              <a:t>: Configure conditions and start the UiPath workflow.</a:t>
            </a:r>
          </a:p>
          <a:p>
            <a:r>
              <a:rPr lang="en-US" b="1" dirty="0"/>
              <a:t>Fetch Data</a:t>
            </a:r>
            <a:r>
              <a:rPr lang="en-US" dirty="0"/>
              <a:t>: Retrieve real-time prices from APIs.</a:t>
            </a:r>
          </a:p>
          <a:p>
            <a:r>
              <a:rPr lang="en-US" b="1" dirty="0"/>
              <a:t>Process Data</a:t>
            </a:r>
            <a:r>
              <a:rPr lang="en-US" dirty="0"/>
              <a:t>: Compare data with user-defined thresholds.</a:t>
            </a:r>
          </a:p>
          <a:p>
            <a:r>
              <a:rPr lang="en-US" b="1" dirty="0"/>
              <a:t>Generate Alerts</a:t>
            </a:r>
            <a:r>
              <a:rPr lang="en-US" dirty="0"/>
              <a:t>: Send notifications via email or messaging apps.</a:t>
            </a:r>
          </a:p>
          <a:p>
            <a:r>
              <a:rPr lang="en-US" b="1" u="sng" dirty="0"/>
              <a:t>Sub Process</a:t>
            </a:r>
          </a:p>
          <a:p>
            <a:r>
              <a:rPr lang="en-US" b="1" dirty="0"/>
              <a:t>API Integration</a:t>
            </a:r>
            <a:r>
              <a:rPr lang="en-US" dirty="0"/>
              <a:t>: Fetch and handle cryptocurrency data.</a:t>
            </a:r>
            <a:endParaRPr lang="en-US" b="1" u="sng" dirty="0"/>
          </a:p>
          <a:p>
            <a:r>
              <a:rPr lang="en-US" b="1" dirty="0"/>
              <a:t>Notification Handling</a:t>
            </a:r>
            <a:r>
              <a:rPr lang="en-US" dirty="0"/>
              <a:t>: Deliver clear, timely alerts.</a:t>
            </a:r>
            <a:endParaRPr lang="en-US" b="1" u="sng" dirty="0"/>
          </a:p>
          <a:p>
            <a:r>
              <a:rPr lang="en-US" b="1" dirty="0"/>
              <a:t>Data Logging</a:t>
            </a:r>
            <a:r>
              <a:rPr lang="en-US" dirty="0"/>
              <a:t>: Store price changes for analysis.</a:t>
            </a:r>
            <a:endParaRPr lang="en-US" b="1" u="sn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427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</a:t>
            </a:r>
            <a:endParaRPr lang="en-IN" dirty="0">
              <a:latin typeface="+mj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341899-F4D1-5CC7-5CAA-4BA748930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342173"/>
            <a:ext cx="8763000" cy="463085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947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cryptocurrency price monitoring bot efficiently automates real-time tracking and alert generation, improving decision-making speed.</a:t>
            </a:r>
          </a:p>
          <a:p>
            <a:r>
              <a:rPr lang="en-US" dirty="0"/>
              <a:t>By reducing manual effort and errors, the system increases productivity and accuracy in monitoring volatile markets.</a:t>
            </a:r>
          </a:p>
          <a:p>
            <a:r>
              <a:rPr lang="en-US" dirty="0"/>
              <a:t>The solution provides scalability and 24/7 operation, ensuring users never miss critical price changes.</a:t>
            </a:r>
          </a:p>
          <a:p>
            <a:r>
              <a:rPr lang="en-US" dirty="0"/>
              <a:t>Overall, it enhances trading strategies, offering valuable insights for investors and traders in the cryptocurrency space.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37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Enhancement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Predictive Analytics:</a:t>
            </a:r>
            <a:r>
              <a:rPr lang="en-US" dirty="0"/>
              <a:t> Implement machine learning for price predictions.</a:t>
            </a:r>
          </a:p>
          <a:p>
            <a:r>
              <a:rPr lang="en-US" b="1" dirty="0"/>
              <a:t>Support for More Exchanges:</a:t>
            </a:r>
            <a:r>
              <a:rPr lang="en-US" dirty="0"/>
              <a:t> Monitor additional cryptocurrency exchanges.</a:t>
            </a:r>
          </a:p>
          <a:p>
            <a:r>
              <a:rPr lang="en-US" b="1" dirty="0"/>
              <a:t>Advanced Notifications:</a:t>
            </a:r>
            <a:r>
              <a:rPr lang="en-US" dirty="0"/>
              <a:t> Offer more complex alerts based on trends or portfolios.</a:t>
            </a:r>
          </a:p>
          <a:p>
            <a:r>
              <a:rPr lang="en-US" b="1" dirty="0"/>
              <a:t>Mobile App Integration:</a:t>
            </a:r>
            <a:r>
              <a:rPr lang="en-US" dirty="0"/>
              <a:t> Provide a mobile app for remote monitoring.</a:t>
            </a:r>
          </a:p>
          <a:p>
            <a:r>
              <a:rPr lang="en-US" b="1" dirty="0"/>
              <a:t>User Interface:</a:t>
            </a:r>
            <a:r>
              <a:rPr lang="en-US" dirty="0"/>
              <a:t> Create a real-time dashboard for price tracking and alerts.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085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Journals:</a:t>
            </a:r>
          </a:p>
          <a:p>
            <a:r>
              <a:rPr lang="en-US" dirty="0"/>
              <a:t>"Blockchain and Cryptocurrency: A Review of the Literature“</a:t>
            </a:r>
          </a:p>
          <a:p>
            <a:r>
              <a:rPr lang="en-US" dirty="0"/>
              <a:t>"The Role of Robotic Process Automation in Financial Services“</a:t>
            </a:r>
          </a:p>
          <a:p>
            <a:r>
              <a:rPr lang="en-US" b="1" dirty="0"/>
              <a:t>Books:</a:t>
            </a:r>
          </a:p>
          <a:p>
            <a:r>
              <a:rPr lang="en-US" dirty="0"/>
              <a:t>"Hands-On Robotic Process Automation with UiPath" </a:t>
            </a:r>
          </a:p>
          <a:p>
            <a:r>
              <a:rPr lang="en-US" b="1" dirty="0"/>
              <a:t>Websites:</a:t>
            </a:r>
          </a:p>
          <a:p>
            <a:r>
              <a:rPr lang="en-US" dirty="0" err="1"/>
              <a:t>CoinGecko</a:t>
            </a:r>
            <a:r>
              <a:rPr lang="en-US" dirty="0"/>
              <a:t> API Documentation</a:t>
            </a:r>
          </a:p>
          <a:p>
            <a:r>
              <a:rPr lang="en-US" dirty="0" err="1"/>
              <a:t>Binance</a:t>
            </a:r>
            <a:r>
              <a:rPr lang="en-US" dirty="0"/>
              <a:t> API Documentation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474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2822" y="2321005"/>
            <a:ext cx="407836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191802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7460" y="2321005"/>
            <a:ext cx="768909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606368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4234" y="2321005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4857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9240</TotalTime>
  <Words>669</Words>
  <Application>Microsoft Office PowerPoint</Application>
  <PresentationFormat>On-screen Show (4:3)</PresentationFormat>
  <Paragraphs>100</Paragraphs>
  <Slides>18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Abstract</vt:lpstr>
      <vt:lpstr>Need for the Proposed System</vt:lpstr>
      <vt:lpstr>Advantages of the Proposed System</vt:lpstr>
      <vt:lpstr>Literature Survey</vt:lpstr>
      <vt:lpstr>Main Objective</vt:lpstr>
      <vt:lpstr>Architecture</vt:lpstr>
      <vt:lpstr>System Requirements</vt:lpstr>
      <vt:lpstr>Functional Description</vt:lpstr>
      <vt:lpstr>Table Design</vt:lpstr>
      <vt:lpstr>Process Design</vt:lpstr>
      <vt:lpstr>Implementation</vt:lpstr>
      <vt:lpstr>Conclusions</vt:lpstr>
      <vt:lpstr>Future Enhancement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Thinkpad</dc:creator>
  <cp:lastModifiedBy>Prince Perinbaraj S</cp:lastModifiedBy>
  <cp:revision>1742</cp:revision>
  <dcterms:created xsi:type="dcterms:W3CDTF">2013-05-17T03:00:03Z</dcterms:created>
  <dcterms:modified xsi:type="dcterms:W3CDTF">2024-11-22T02:59:30Z</dcterms:modified>
</cp:coreProperties>
</file>